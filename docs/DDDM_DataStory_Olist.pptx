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67" r:id="rId6"/>
    <p:sldId id="271" r:id="rId7"/>
    <p:sldId id="276" r:id="rId8"/>
    <p:sldId id="277" r:id="rId9"/>
    <p:sldId id="270" r:id="rId10"/>
    <p:sldId id="261" r:id="rId11"/>
    <p:sldId id="262" r:id="rId12"/>
    <p:sldId id="272" r:id="rId13"/>
    <p:sldId id="275" r:id="rId14"/>
    <p:sldId id="27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C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Image 1"/>
        <cdr:cNvPicPr>
          <a:picLocks xmlns:a="http://schemas.openxmlformats.org/drawingml/2006/main" noChangeAspect="1"/>
        </cdr:cNvPicPr>
      </cdr:nvPicPr>
      <cdr:blipFill rotWithShape="1"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 t="6746" r="46107" b="2063"/>
        <a:stretch xmlns:a="http://schemas.openxmlformats.org/drawingml/2006/main"/>
      </cdr:blipFill>
      <cdr:spPr>
        <a:xfrm xmlns:a="http://schemas.openxmlformats.org/drawingml/2006/main">
          <a:off x="0" y="0"/>
          <a:ext cx="4114800" cy="338328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889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79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28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99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93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74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699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78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54864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915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00" dirty="0">
                <a:solidFill>
                  <a:srgbClr val="5EEAD4"/>
                </a:solidFill>
              </a:rPr>
              <a:t>DATA STORY • E-COMMERCE INTELLIGENCE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577821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données</a:t>
            </a:r>
          </a:p>
          <a:p>
            <a:r>
              <a:rPr lang="fr-FR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transforment un e-commerce</a:t>
            </a:r>
          </a:p>
        </p:txBody>
      </p:sp>
      <p:sp>
        <p:nvSpPr>
          <p:cNvPr id="7" name="Shape 5"/>
          <p:cNvSpPr/>
          <p:nvPr/>
        </p:nvSpPr>
        <p:spPr>
          <a:xfrm>
            <a:off x="658368" y="310896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2918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REZGUANI Hiba  ·  BAHBAH Ikram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ENSIAS — Génie Logiciel  |  Encadrant : Prof. Youness TABII  |  2025-2026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06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800" dirty="0"/>
          </a:p>
          <a:p>
            <a:endParaRPr lang="en-US" sz="2800" dirty="0">
              <a:solidFill>
                <a:srgbClr val="1A2C5B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e-commerce brésilienne connectant des milliers de vendeurs à des millions de clients à travers tout le Brésil.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2801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dispersées, aucun pilotage centralisé.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280160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1280160"/>
            <a:ext cx="457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325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97880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194560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2194560"/>
            <a:ext cx="457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240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97880" y="2615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108960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3108960"/>
            <a:ext cx="457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154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897880" y="3529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décisionnels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9232" y="3806792"/>
            <a:ext cx="8229600" cy="8229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2219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"Comment optimiser les ventes, l'experience client et reduire les inefficacites logistiques grace a la data ?"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sources, 1 pipeline, des milliers de décisions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26060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081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orders.csv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824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&amp; dates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653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lignes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298448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1298448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081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order_items.csv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6824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&amp; livraison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8653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~113K lignes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298448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298448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4081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customers.csv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16824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&amp; régions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8653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lignes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50008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350008"/>
            <a:ext cx="26060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597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products.csv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7340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9169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~33K lignes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08960" y="2350008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2350008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4597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reviews.csv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27340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1–5 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29169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lignes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2350008"/>
            <a:ext cx="2606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2350008"/>
            <a:ext cx="26060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4597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payments.csv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27340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paiement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29169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lignes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0" y="3547872"/>
            <a:ext cx="914400" cy="36576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657600"/>
            <a:ext cx="182880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86000" y="367588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2560320" y="3657600"/>
            <a:ext cx="182880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0" y="367588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663440" y="3657600"/>
            <a:ext cx="182880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92240" y="367588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766560" y="3657600"/>
            <a:ext cx="1828800" cy="56692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3657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Unifié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50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2"/>
          <p:cNvSpPr/>
          <p:nvPr/>
        </p:nvSpPr>
        <p:spPr>
          <a:xfrm>
            <a:off x="457200" y="137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000" dirty="0"/>
          </a:p>
        </p:txBody>
      </p:sp>
      <p:sp>
        <p:nvSpPr>
          <p:cNvPr id="52" name="Text 3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l'on mesure pour decider</a:t>
            </a:r>
            <a:endParaRPr lang="en-US" sz="2400" dirty="0"/>
          </a:p>
        </p:txBody>
      </p:sp>
      <p:sp>
        <p:nvSpPr>
          <p:cNvPr id="53" name="Shape 4"/>
          <p:cNvSpPr/>
          <p:nvPr/>
        </p:nvSpPr>
        <p:spPr>
          <a:xfrm>
            <a:off x="320040" y="1115568"/>
            <a:ext cx="4160520" cy="34747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54" name="Text 5"/>
          <p:cNvSpPr/>
          <p:nvPr/>
        </p:nvSpPr>
        <p:spPr>
          <a:xfrm>
            <a:off x="320040" y="11155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STRATEGIQUES PRIMAIRES</a:t>
            </a:r>
            <a:endParaRPr lang="en-US" sz="1100" dirty="0"/>
          </a:p>
        </p:txBody>
      </p:sp>
      <p:sp>
        <p:nvSpPr>
          <p:cNvPr id="55" name="Shape 6"/>
          <p:cNvSpPr/>
          <p:nvPr/>
        </p:nvSpPr>
        <p:spPr>
          <a:xfrm>
            <a:off x="320040" y="157276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7"/>
          <p:cNvSpPr/>
          <p:nvPr/>
        </p:nvSpPr>
        <p:spPr>
          <a:xfrm>
            <a:off x="438912" y="174650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8"/>
          <p:cNvSpPr/>
          <p:nvPr/>
        </p:nvSpPr>
        <p:spPr>
          <a:xfrm>
            <a:off x="694944" y="16276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total</a:t>
            </a:r>
            <a:endParaRPr lang="en-US" sz="1100" dirty="0"/>
          </a:p>
        </p:txBody>
      </p:sp>
      <p:sp>
        <p:nvSpPr>
          <p:cNvPr id="58" name="Text 9"/>
          <p:cNvSpPr/>
          <p:nvPr/>
        </p:nvSpPr>
        <p:spPr>
          <a:xfrm>
            <a:off x="694944" y="18653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generes par les ventes  —  Performance globale</a:t>
            </a:r>
            <a:endParaRPr lang="en-US" sz="850" dirty="0"/>
          </a:p>
        </p:txBody>
      </p:sp>
      <p:sp>
        <p:nvSpPr>
          <p:cNvPr id="59" name="Shape 10"/>
          <p:cNvSpPr/>
          <p:nvPr/>
        </p:nvSpPr>
        <p:spPr>
          <a:xfrm>
            <a:off x="320040" y="2121408"/>
            <a:ext cx="41605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11"/>
          <p:cNvSpPr/>
          <p:nvPr/>
        </p:nvSpPr>
        <p:spPr>
          <a:xfrm>
            <a:off x="438912" y="2295144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12"/>
          <p:cNvSpPr/>
          <p:nvPr/>
        </p:nvSpPr>
        <p:spPr>
          <a:xfrm>
            <a:off x="694944" y="21762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commandes</a:t>
            </a:r>
            <a:endParaRPr lang="en-US" sz="1100" dirty="0"/>
          </a:p>
        </p:txBody>
      </p:sp>
      <p:sp>
        <p:nvSpPr>
          <p:cNvPr id="62" name="Text 13"/>
          <p:cNvSpPr/>
          <p:nvPr/>
        </p:nvSpPr>
        <p:spPr>
          <a:xfrm>
            <a:off x="694944" y="24140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total des commandes realisees  —  Activite commerciale</a:t>
            </a:r>
            <a:endParaRPr lang="en-US" sz="850" dirty="0"/>
          </a:p>
        </p:txBody>
      </p:sp>
      <p:sp>
        <p:nvSpPr>
          <p:cNvPr id="63" name="Shape 14"/>
          <p:cNvSpPr/>
          <p:nvPr/>
        </p:nvSpPr>
        <p:spPr>
          <a:xfrm>
            <a:off x="320040" y="267004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15"/>
          <p:cNvSpPr/>
          <p:nvPr/>
        </p:nvSpPr>
        <p:spPr>
          <a:xfrm>
            <a:off x="438912" y="284378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5" name="Text 16"/>
          <p:cNvSpPr/>
          <p:nvPr/>
        </p:nvSpPr>
        <p:spPr>
          <a:xfrm>
            <a:off x="694944" y="27249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</a:t>
            </a:r>
            <a:endParaRPr lang="en-US" sz="1100" dirty="0"/>
          </a:p>
        </p:txBody>
      </p:sp>
      <p:sp>
        <p:nvSpPr>
          <p:cNvPr id="66" name="Text 17"/>
          <p:cNvSpPr/>
          <p:nvPr/>
        </p:nvSpPr>
        <p:spPr>
          <a:xfrm>
            <a:off x="694944" y="29626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moyenne par commande  —  Comportement d'achat</a:t>
            </a:r>
            <a:endParaRPr lang="en-US" sz="850" dirty="0"/>
          </a:p>
        </p:txBody>
      </p:sp>
      <p:sp>
        <p:nvSpPr>
          <p:cNvPr id="67" name="Shape 18"/>
          <p:cNvSpPr/>
          <p:nvPr/>
        </p:nvSpPr>
        <p:spPr>
          <a:xfrm>
            <a:off x="320040" y="3218688"/>
            <a:ext cx="41605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19"/>
          <p:cNvSpPr/>
          <p:nvPr/>
        </p:nvSpPr>
        <p:spPr>
          <a:xfrm>
            <a:off x="438912" y="3392424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9" name="Text 20"/>
          <p:cNvSpPr/>
          <p:nvPr/>
        </p:nvSpPr>
        <p:spPr>
          <a:xfrm>
            <a:off x="694944" y="32735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clients</a:t>
            </a:r>
            <a:endParaRPr lang="en-US" sz="1100" dirty="0"/>
          </a:p>
        </p:txBody>
      </p:sp>
      <p:sp>
        <p:nvSpPr>
          <p:cNvPr id="70" name="Text 21"/>
          <p:cNvSpPr/>
          <p:nvPr/>
        </p:nvSpPr>
        <p:spPr>
          <a:xfrm>
            <a:off x="694944" y="35112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clients actifs  —  Croissance client</a:t>
            </a:r>
            <a:endParaRPr lang="en-US" sz="850" dirty="0"/>
          </a:p>
        </p:txBody>
      </p:sp>
      <p:sp>
        <p:nvSpPr>
          <p:cNvPr id="71" name="Shape 22"/>
          <p:cNvSpPr/>
          <p:nvPr/>
        </p:nvSpPr>
        <p:spPr>
          <a:xfrm>
            <a:off x="320040" y="376732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23"/>
          <p:cNvSpPr/>
          <p:nvPr/>
        </p:nvSpPr>
        <p:spPr>
          <a:xfrm>
            <a:off x="438912" y="394106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3" name="Text 24"/>
          <p:cNvSpPr/>
          <p:nvPr/>
        </p:nvSpPr>
        <p:spPr>
          <a:xfrm>
            <a:off x="694944" y="382219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produits vendus</a:t>
            </a:r>
            <a:endParaRPr lang="en-US" sz="1100" dirty="0"/>
          </a:p>
        </p:txBody>
      </p:sp>
      <p:sp>
        <p:nvSpPr>
          <p:cNvPr id="74" name="Text 25"/>
          <p:cNvSpPr/>
          <p:nvPr/>
        </p:nvSpPr>
        <p:spPr>
          <a:xfrm>
            <a:off x="694944" y="40599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des produits vendus  —  Demande produit</a:t>
            </a:r>
            <a:endParaRPr lang="en-US" sz="850" dirty="0"/>
          </a:p>
        </p:txBody>
      </p:sp>
      <p:sp>
        <p:nvSpPr>
          <p:cNvPr id="75" name="Shape 26"/>
          <p:cNvSpPr/>
          <p:nvPr/>
        </p:nvSpPr>
        <p:spPr>
          <a:xfrm>
            <a:off x="320040" y="4315968"/>
            <a:ext cx="41605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Shape 27"/>
          <p:cNvSpPr/>
          <p:nvPr/>
        </p:nvSpPr>
        <p:spPr>
          <a:xfrm>
            <a:off x="438912" y="4489704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7" name="Text 28"/>
          <p:cNvSpPr/>
          <p:nvPr/>
        </p:nvSpPr>
        <p:spPr>
          <a:xfrm>
            <a:off x="694944" y="43708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livraison</a:t>
            </a:r>
            <a:endParaRPr lang="en-US" sz="1100" dirty="0"/>
          </a:p>
        </p:txBody>
      </p:sp>
      <p:sp>
        <p:nvSpPr>
          <p:cNvPr id="78" name="Text 29"/>
          <p:cNvSpPr/>
          <p:nvPr/>
        </p:nvSpPr>
        <p:spPr>
          <a:xfrm>
            <a:off x="694944" y="46085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des commandes livrees  —  Performance logistique</a:t>
            </a:r>
            <a:endParaRPr lang="en-US" sz="850" dirty="0"/>
          </a:p>
        </p:txBody>
      </p:sp>
      <p:sp>
        <p:nvSpPr>
          <p:cNvPr id="79" name="Shape 30"/>
          <p:cNvSpPr/>
          <p:nvPr/>
        </p:nvSpPr>
        <p:spPr>
          <a:xfrm>
            <a:off x="4663440" y="1115568"/>
            <a:ext cx="4160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0" name="Text 31"/>
          <p:cNvSpPr/>
          <p:nvPr/>
        </p:nvSpPr>
        <p:spPr>
          <a:xfrm>
            <a:off x="4663440" y="111556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SECONDAIRES</a:t>
            </a:r>
            <a:endParaRPr lang="en-US" sz="1100" dirty="0"/>
          </a:p>
        </p:txBody>
      </p:sp>
      <p:sp>
        <p:nvSpPr>
          <p:cNvPr id="81" name="Shape 32"/>
          <p:cNvSpPr/>
          <p:nvPr/>
        </p:nvSpPr>
        <p:spPr>
          <a:xfrm>
            <a:off x="4663440" y="1572768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33"/>
          <p:cNvSpPr/>
          <p:nvPr/>
        </p:nvSpPr>
        <p:spPr>
          <a:xfrm>
            <a:off x="7955280" y="1627632"/>
            <a:ext cx="749808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3" name="Text 34"/>
          <p:cNvSpPr/>
          <p:nvPr/>
        </p:nvSpPr>
        <p:spPr>
          <a:xfrm>
            <a:off x="7955280" y="162763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50" dirty="0"/>
          </a:p>
        </p:txBody>
      </p:sp>
      <p:sp>
        <p:nvSpPr>
          <p:cNvPr id="84" name="Text 35"/>
          <p:cNvSpPr/>
          <p:nvPr/>
        </p:nvSpPr>
        <p:spPr>
          <a:xfrm>
            <a:off x="4773168" y="160934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Frequence d'achat</a:t>
            </a:r>
            <a:endParaRPr lang="en-US" sz="1000" dirty="0"/>
          </a:p>
        </p:txBody>
      </p:sp>
      <p:sp>
        <p:nvSpPr>
          <p:cNvPr id="85" name="Text 36"/>
          <p:cNvSpPr/>
          <p:nvPr/>
        </p:nvSpPr>
        <p:spPr>
          <a:xfrm>
            <a:off x="4773168" y="17647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moyen d'achats par client</a:t>
            </a:r>
            <a:endParaRPr lang="en-US" sz="800" dirty="0"/>
          </a:p>
        </p:txBody>
      </p:sp>
      <p:sp>
        <p:nvSpPr>
          <p:cNvPr id="86" name="Shape 37"/>
          <p:cNvSpPr/>
          <p:nvPr/>
        </p:nvSpPr>
        <p:spPr>
          <a:xfrm>
            <a:off x="4663440" y="1920240"/>
            <a:ext cx="416052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Shape 38"/>
          <p:cNvSpPr/>
          <p:nvPr/>
        </p:nvSpPr>
        <p:spPr>
          <a:xfrm>
            <a:off x="7955280" y="1975104"/>
            <a:ext cx="749808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8" name="Text 39"/>
          <p:cNvSpPr/>
          <p:nvPr/>
        </p:nvSpPr>
        <p:spPr>
          <a:xfrm>
            <a:off x="7955280" y="19751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50" dirty="0"/>
          </a:p>
        </p:txBody>
      </p:sp>
      <p:sp>
        <p:nvSpPr>
          <p:cNvPr id="89" name="Text 40"/>
          <p:cNvSpPr/>
          <p:nvPr/>
        </p:nvSpPr>
        <p:spPr>
          <a:xfrm>
            <a:off x="4773168" y="19568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moyenne client</a:t>
            </a:r>
            <a:endParaRPr lang="en-US" sz="1000" dirty="0"/>
          </a:p>
        </p:txBody>
      </p:sp>
      <p:sp>
        <p:nvSpPr>
          <p:cNvPr id="90" name="Text 41"/>
          <p:cNvSpPr/>
          <p:nvPr/>
        </p:nvSpPr>
        <p:spPr>
          <a:xfrm>
            <a:off x="4773168" y="2112264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moyen genere par client</a:t>
            </a:r>
            <a:endParaRPr lang="en-US" sz="800" dirty="0"/>
          </a:p>
        </p:txBody>
      </p:sp>
      <p:sp>
        <p:nvSpPr>
          <p:cNvPr id="91" name="Shape 42"/>
          <p:cNvSpPr/>
          <p:nvPr/>
        </p:nvSpPr>
        <p:spPr>
          <a:xfrm>
            <a:off x="4663440" y="2267712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43"/>
          <p:cNvSpPr/>
          <p:nvPr/>
        </p:nvSpPr>
        <p:spPr>
          <a:xfrm>
            <a:off x="7955280" y="2322576"/>
            <a:ext cx="74980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3" name="Text 44"/>
          <p:cNvSpPr/>
          <p:nvPr/>
        </p:nvSpPr>
        <p:spPr>
          <a:xfrm>
            <a:off x="7955280" y="23225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750" dirty="0"/>
          </a:p>
        </p:txBody>
      </p:sp>
      <p:sp>
        <p:nvSpPr>
          <p:cNvPr id="94" name="Text 45"/>
          <p:cNvSpPr/>
          <p:nvPr/>
        </p:nvSpPr>
        <p:spPr>
          <a:xfrm>
            <a:off x="4773168" y="230428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total de livraison</a:t>
            </a:r>
            <a:endParaRPr lang="en-US" sz="1000" dirty="0"/>
          </a:p>
        </p:txBody>
      </p:sp>
      <p:sp>
        <p:nvSpPr>
          <p:cNvPr id="95" name="Text 46"/>
          <p:cNvSpPr/>
          <p:nvPr/>
        </p:nvSpPr>
        <p:spPr>
          <a:xfrm>
            <a:off x="4773168" y="245973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totale des frais de livraison</a:t>
            </a:r>
            <a:endParaRPr lang="en-US" sz="800" dirty="0"/>
          </a:p>
        </p:txBody>
      </p:sp>
      <p:sp>
        <p:nvSpPr>
          <p:cNvPr id="96" name="Shape 47"/>
          <p:cNvSpPr/>
          <p:nvPr/>
        </p:nvSpPr>
        <p:spPr>
          <a:xfrm>
            <a:off x="4663440" y="2615184"/>
            <a:ext cx="416052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Shape 48"/>
          <p:cNvSpPr/>
          <p:nvPr/>
        </p:nvSpPr>
        <p:spPr>
          <a:xfrm>
            <a:off x="7955280" y="2670048"/>
            <a:ext cx="74980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8" name="Text 49"/>
          <p:cNvSpPr/>
          <p:nvPr/>
        </p:nvSpPr>
        <p:spPr>
          <a:xfrm>
            <a:off x="7955280" y="26700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750" dirty="0"/>
          </a:p>
        </p:txBody>
      </p:sp>
      <p:sp>
        <p:nvSpPr>
          <p:cNvPr id="99" name="Text 50"/>
          <p:cNvSpPr/>
          <p:nvPr/>
        </p:nvSpPr>
        <p:spPr>
          <a:xfrm>
            <a:off x="4773168" y="26517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moyen de livraison</a:t>
            </a:r>
            <a:endParaRPr lang="en-US" sz="1000" dirty="0"/>
          </a:p>
        </p:txBody>
      </p:sp>
      <p:sp>
        <p:nvSpPr>
          <p:cNvPr id="100" name="Text 51"/>
          <p:cNvSpPr/>
          <p:nvPr/>
        </p:nvSpPr>
        <p:spPr>
          <a:xfrm>
            <a:off x="4773168" y="280720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moyen par commande</a:t>
            </a:r>
            <a:endParaRPr lang="en-US" sz="800" dirty="0"/>
          </a:p>
        </p:txBody>
      </p:sp>
      <p:sp>
        <p:nvSpPr>
          <p:cNvPr id="101" name="Shape 52"/>
          <p:cNvSpPr/>
          <p:nvPr/>
        </p:nvSpPr>
        <p:spPr>
          <a:xfrm>
            <a:off x="4663440" y="2962656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Shape 53"/>
          <p:cNvSpPr/>
          <p:nvPr/>
        </p:nvSpPr>
        <p:spPr>
          <a:xfrm>
            <a:off x="7955280" y="3017520"/>
            <a:ext cx="74980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3" name="Text 54"/>
          <p:cNvSpPr/>
          <p:nvPr/>
        </p:nvSpPr>
        <p:spPr>
          <a:xfrm>
            <a:off x="7955280" y="30175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750" dirty="0"/>
          </a:p>
        </p:txBody>
      </p:sp>
      <p:sp>
        <p:nvSpPr>
          <p:cNvPr id="104" name="Text 55"/>
          <p:cNvSpPr/>
          <p:nvPr/>
        </p:nvSpPr>
        <p:spPr>
          <a:xfrm>
            <a:off x="4773168" y="299923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Delai moyen de livraison</a:t>
            </a:r>
            <a:endParaRPr lang="en-US" sz="1000" dirty="0"/>
          </a:p>
        </p:txBody>
      </p:sp>
      <p:sp>
        <p:nvSpPr>
          <p:cNvPr id="105" name="Text 56"/>
          <p:cNvSpPr/>
          <p:nvPr/>
        </p:nvSpPr>
        <p:spPr>
          <a:xfrm>
            <a:off x="4773168" y="315468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moyen achat -&gt; reception</a:t>
            </a:r>
            <a:endParaRPr lang="en-US" sz="800" dirty="0"/>
          </a:p>
        </p:txBody>
      </p:sp>
      <p:sp>
        <p:nvSpPr>
          <p:cNvPr id="106" name="Shape 57"/>
          <p:cNvSpPr/>
          <p:nvPr/>
        </p:nvSpPr>
        <p:spPr>
          <a:xfrm>
            <a:off x="4663440" y="3310128"/>
            <a:ext cx="416052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Shape 58"/>
          <p:cNvSpPr/>
          <p:nvPr/>
        </p:nvSpPr>
        <p:spPr>
          <a:xfrm>
            <a:off x="7955280" y="3364992"/>
            <a:ext cx="74980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8" name="Text 59"/>
          <p:cNvSpPr/>
          <p:nvPr/>
        </p:nvSpPr>
        <p:spPr>
          <a:xfrm>
            <a:off x="7955280" y="336499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750" dirty="0"/>
          </a:p>
        </p:txBody>
      </p:sp>
      <p:sp>
        <p:nvSpPr>
          <p:cNvPr id="109" name="Text 60"/>
          <p:cNvSpPr/>
          <p:nvPr/>
        </p:nvSpPr>
        <p:spPr>
          <a:xfrm>
            <a:off x="4773168" y="33467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 moyen</a:t>
            </a:r>
            <a:endParaRPr lang="en-US" sz="1000" dirty="0"/>
          </a:p>
        </p:txBody>
      </p:sp>
      <p:sp>
        <p:nvSpPr>
          <p:cNvPr id="110" name="Text 61"/>
          <p:cNvSpPr/>
          <p:nvPr/>
        </p:nvSpPr>
        <p:spPr>
          <a:xfrm>
            <a:off x="4773168" y="350215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date estimee vs date reelle</a:t>
            </a:r>
            <a:endParaRPr lang="en-US" sz="800" dirty="0"/>
          </a:p>
        </p:txBody>
      </p:sp>
      <p:sp>
        <p:nvSpPr>
          <p:cNvPr id="111" name="Shape 62"/>
          <p:cNvSpPr/>
          <p:nvPr/>
        </p:nvSpPr>
        <p:spPr>
          <a:xfrm>
            <a:off x="4663440" y="3657600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Shape 63"/>
          <p:cNvSpPr/>
          <p:nvPr/>
        </p:nvSpPr>
        <p:spPr>
          <a:xfrm>
            <a:off x="7955280" y="3712464"/>
            <a:ext cx="749808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3" name="Text 64"/>
          <p:cNvSpPr/>
          <p:nvPr/>
        </p:nvSpPr>
        <p:spPr>
          <a:xfrm>
            <a:off x="7955280" y="37124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750" dirty="0"/>
          </a:p>
        </p:txBody>
      </p:sp>
      <p:sp>
        <p:nvSpPr>
          <p:cNvPr id="114" name="Text 65"/>
          <p:cNvSpPr/>
          <p:nvPr/>
        </p:nvSpPr>
        <p:spPr>
          <a:xfrm>
            <a:off x="4773168" y="36941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par region / ville</a:t>
            </a:r>
            <a:endParaRPr lang="en-US" sz="1000" dirty="0"/>
          </a:p>
        </p:txBody>
      </p:sp>
      <p:sp>
        <p:nvSpPr>
          <p:cNvPr id="115" name="Text 66"/>
          <p:cNvSpPr/>
          <p:nvPr/>
        </p:nvSpPr>
        <p:spPr>
          <a:xfrm>
            <a:off x="4773168" y="3849624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geographique du CA</a:t>
            </a:r>
            <a:endParaRPr lang="en-US" sz="800" dirty="0"/>
          </a:p>
        </p:txBody>
      </p:sp>
      <p:sp>
        <p:nvSpPr>
          <p:cNvPr id="116" name="Shape 67"/>
          <p:cNvSpPr/>
          <p:nvPr/>
        </p:nvSpPr>
        <p:spPr>
          <a:xfrm>
            <a:off x="4663440" y="4005072"/>
            <a:ext cx="416052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Shape 68"/>
          <p:cNvSpPr/>
          <p:nvPr/>
        </p:nvSpPr>
        <p:spPr>
          <a:xfrm>
            <a:off x="7955280" y="4059936"/>
            <a:ext cx="749808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8" name="Text 69"/>
          <p:cNvSpPr/>
          <p:nvPr/>
        </p:nvSpPr>
        <p:spPr>
          <a:xfrm>
            <a:off x="7955280" y="405993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750" dirty="0"/>
          </a:p>
        </p:txBody>
      </p:sp>
      <p:sp>
        <p:nvSpPr>
          <p:cNvPr id="119" name="Text 70"/>
          <p:cNvSpPr/>
          <p:nvPr/>
        </p:nvSpPr>
        <p:spPr>
          <a:xfrm>
            <a:off x="4773168" y="404164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par categorie</a:t>
            </a:r>
            <a:endParaRPr lang="en-US" sz="1000" dirty="0"/>
          </a:p>
        </p:txBody>
      </p:sp>
      <p:sp>
        <p:nvSpPr>
          <p:cNvPr id="120" name="Text 71"/>
          <p:cNvSpPr/>
          <p:nvPr/>
        </p:nvSpPr>
        <p:spPr>
          <a:xfrm>
            <a:off x="4773168" y="419709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par categorie de produit</a:t>
            </a:r>
            <a:endParaRPr lang="en-US" sz="800" dirty="0"/>
          </a:p>
        </p:txBody>
      </p:sp>
      <p:sp>
        <p:nvSpPr>
          <p:cNvPr id="121" name="Shape 72"/>
          <p:cNvSpPr/>
          <p:nvPr/>
        </p:nvSpPr>
        <p:spPr>
          <a:xfrm>
            <a:off x="4663440" y="4352544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Shape 73"/>
          <p:cNvSpPr/>
          <p:nvPr/>
        </p:nvSpPr>
        <p:spPr>
          <a:xfrm>
            <a:off x="7955280" y="4407408"/>
            <a:ext cx="749808" cy="2194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3" name="Text 74"/>
          <p:cNvSpPr/>
          <p:nvPr/>
        </p:nvSpPr>
        <p:spPr>
          <a:xfrm>
            <a:off x="7955280" y="440740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750" dirty="0"/>
          </a:p>
        </p:txBody>
      </p:sp>
      <p:sp>
        <p:nvSpPr>
          <p:cNvPr id="124" name="Text 75"/>
          <p:cNvSpPr/>
          <p:nvPr/>
        </p:nvSpPr>
        <p:spPr>
          <a:xfrm>
            <a:off x="4773168" y="438912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villes actives</a:t>
            </a:r>
            <a:endParaRPr lang="en-US" sz="1000" dirty="0"/>
          </a:p>
        </p:txBody>
      </p:sp>
      <p:sp>
        <p:nvSpPr>
          <p:cNvPr id="125" name="Text 76"/>
          <p:cNvSpPr/>
          <p:nvPr/>
        </p:nvSpPr>
        <p:spPr>
          <a:xfrm>
            <a:off x="4773168" y="454456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avec au moins 1 commande</a:t>
            </a:r>
            <a:endParaRPr lang="en-US" sz="800" dirty="0"/>
          </a:p>
        </p:txBody>
      </p:sp>
      <p:sp>
        <p:nvSpPr>
          <p:cNvPr id="126" name="Shape 7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0585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fr-FR" sz="2300" b="1" dirty="0" smtClean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2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interactives pour chaque décideur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102412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Vue Direction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325880"/>
            <a:ext cx="2606040" cy="27432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325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Générale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70992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total, nb commandes, panier moyen, évolution temporelle des ventes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68880"/>
            <a:ext cx="54864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0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Vue Marketing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2560320"/>
            <a:ext cx="260604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Marketing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94436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clients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valeur moyenne, fréquence d'achat, analyse par </a:t>
            </a:r>
            <a:r>
              <a:rPr 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performance des categories de </a:t>
            </a:r>
            <a:r>
              <a:rPr lang="en-US" sz="11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8412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703320"/>
            <a:ext cx="54864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94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Vue Opérations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3794760"/>
            <a:ext cx="26060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794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Logistique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17880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&amp; délais livraison, retards, répartition géographique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</a:t>
            </a:r>
            <a:r>
              <a:rPr lang="en-US" sz="1000" b="1" kern="0" spc="200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BI_ </a:t>
            </a:r>
            <a:r>
              <a:rPr lang="en-US" sz="1000" b="1" kern="0" spc="200" dirty="0" err="1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r>
              <a:rPr lang="en-US" sz="1000" b="1" kern="0" spc="200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grpSp>
        <p:nvGrpSpPr>
          <p:cNvPr id="31" name="Groupe 30"/>
          <p:cNvGrpSpPr/>
          <p:nvPr/>
        </p:nvGrpSpPr>
        <p:grpSpPr>
          <a:xfrm>
            <a:off x="0" y="634577"/>
            <a:ext cx="9144000" cy="3725756"/>
            <a:chOff x="15311" y="914936"/>
            <a:chExt cx="9144000" cy="2651922"/>
          </a:xfrm>
        </p:grpSpPr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11" y="987102"/>
              <a:ext cx="4556689" cy="2553824"/>
            </a:xfrm>
            <a:prstGeom prst="rect">
              <a:avLst/>
            </a:prstGeom>
          </p:spPr>
        </p:pic>
        <p:pic>
          <p:nvPicPr>
            <p:cNvPr id="30" name="Image 2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914936"/>
              <a:ext cx="4587311" cy="26519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049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</a:t>
            </a:r>
            <a:r>
              <a:rPr lang="en-US" sz="1000" b="1" kern="0" spc="200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BI_ </a:t>
            </a:r>
            <a:r>
              <a:rPr lang="en-US" sz="1000" b="1" kern="0" spc="200" dirty="0" err="1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r>
              <a:rPr lang="en-US" sz="1000" b="1" kern="0" spc="200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Marketing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grpSp>
        <p:nvGrpSpPr>
          <p:cNvPr id="31" name="Groupe 30"/>
          <p:cNvGrpSpPr/>
          <p:nvPr/>
        </p:nvGrpSpPr>
        <p:grpSpPr>
          <a:xfrm>
            <a:off x="0" y="806450"/>
            <a:ext cx="9144000" cy="3257550"/>
            <a:chOff x="15311" y="1328827"/>
            <a:chExt cx="9144000" cy="1845995"/>
          </a:xfrm>
        </p:grpSpPr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11" y="1328827"/>
              <a:ext cx="4556689" cy="1845995"/>
            </a:xfrm>
            <a:prstGeom prst="rect">
              <a:avLst/>
            </a:prstGeom>
          </p:spPr>
        </p:pic>
        <p:pic>
          <p:nvPicPr>
            <p:cNvPr id="30" name="Image 2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1328827"/>
              <a:ext cx="4587311" cy="18241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725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</a:t>
            </a:r>
            <a:r>
              <a:rPr lang="en-US" sz="1000" b="1" kern="0" spc="200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BI_ </a:t>
            </a:r>
            <a:r>
              <a:rPr lang="en-US" sz="1000" b="1" kern="0" spc="200" dirty="0" err="1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</a:t>
            </a:r>
            <a:r>
              <a:rPr lang="en-US" sz="1000" b="1" kern="0" spc="200" dirty="0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kern="0" spc="200" dirty="0" err="1" smtClean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grpSp>
        <p:nvGrpSpPr>
          <p:cNvPr id="31" name="Groupe 30"/>
          <p:cNvGrpSpPr/>
          <p:nvPr/>
        </p:nvGrpSpPr>
        <p:grpSpPr>
          <a:xfrm>
            <a:off x="4815" y="935339"/>
            <a:ext cx="9128546" cy="3203891"/>
            <a:chOff x="20126" y="1328827"/>
            <a:chExt cx="9128546" cy="1845995"/>
          </a:xfrm>
        </p:grpSpPr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26" y="1328827"/>
              <a:ext cx="4547059" cy="1845995"/>
            </a:xfrm>
            <a:prstGeom prst="rect">
              <a:avLst/>
            </a:prstGeom>
          </p:spPr>
        </p:pic>
        <p:pic>
          <p:nvPicPr>
            <p:cNvPr id="30" name="Image 2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2638" y="1328827"/>
              <a:ext cx="4566034" cy="18241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459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56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7" name="Text 1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NOS MODÈLES D'INTELLIGENCE ARTIFICIELLE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58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outils prédictifs pour anticiper, segmenter et prévenir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9" name="Shape 3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FFFFFF">
              <a:alpha val="92000"/>
            </a:srgbClr>
          </a:solidFill>
          <a:ln w="10160">
            <a:solidFill>
              <a:srgbClr val="0D9488"/>
            </a:solidFill>
            <a:prstDash val="solid"/>
          </a:ln>
        </p:spPr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71600" y="1325880"/>
            <a:ext cx="502920" cy="502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1" name="Text 4"/>
          <p:cNvSpPr/>
          <p:nvPr/>
        </p:nvSpPr>
        <p:spPr>
          <a:xfrm>
            <a:off x="2743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/>
              <a:t>Modèle 1</a:t>
            </a:r>
            <a:endParaRPr lang="en-US" sz="1000" dirty="0"/>
          </a:p>
        </p:txBody>
      </p:sp>
      <p:sp>
        <p:nvSpPr>
          <p:cNvPr id="62" name="Text 5"/>
          <p:cNvSpPr/>
          <p:nvPr/>
        </p:nvSpPr>
        <p:spPr>
          <a:xfrm>
            <a:off x="274320" y="2176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/>
              <a:t>Prévision des ventes</a:t>
            </a:r>
            <a:endParaRPr lang="en-US" sz="1500" dirty="0"/>
          </a:p>
        </p:txBody>
      </p:sp>
      <p:sp>
        <p:nvSpPr>
          <p:cNvPr id="65" name="Text 8"/>
          <p:cNvSpPr/>
          <p:nvPr/>
        </p:nvSpPr>
        <p:spPr>
          <a:xfrm>
            <a:off x="365760" y="2834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/>
              <a:t>En analysant l'historique des ventes, </a:t>
            </a:r>
            <a:r>
              <a:rPr lang="fr-FR" sz="1100" dirty="0"/>
              <a:t>l</a:t>
            </a:r>
            <a:r>
              <a:rPr lang="fr-FR" sz="1100" dirty="0" smtClean="0"/>
              <a:t>e </a:t>
            </a:r>
            <a:r>
              <a:rPr lang="fr-FR" sz="1100" dirty="0"/>
              <a:t>modèle prédit le </a:t>
            </a:r>
            <a:r>
              <a:rPr lang="fr-FR" sz="1100" b="1" dirty="0"/>
              <a:t>CA hebdomadaire par catégorie de produit</a:t>
            </a:r>
            <a:r>
              <a:rPr lang="fr-FR" sz="1100" dirty="0"/>
              <a:t> (prévision semaine suivante).</a:t>
            </a:r>
            <a:endParaRPr lang="en-US" sz="1100" dirty="0"/>
          </a:p>
        </p:txBody>
      </p:sp>
      <p:sp>
        <p:nvSpPr>
          <p:cNvPr id="66" name="Shape 9"/>
          <p:cNvSpPr/>
          <p:nvPr/>
        </p:nvSpPr>
        <p:spPr>
          <a:xfrm>
            <a:off x="548640" y="4526280"/>
            <a:ext cx="2194560" cy="320040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7" name="Text 10"/>
          <p:cNvSpPr/>
          <p:nvPr/>
        </p:nvSpPr>
        <p:spPr>
          <a:xfrm>
            <a:off x="548640" y="4544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 smtClean="0"/>
              <a:t>Précision</a:t>
            </a:r>
            <a:r>
              <a:rPr lang="en-US" sz="1100" b="1" dirty="0" smtClean="0"/>
              <a:t> </a:t>
            </a:r>
            <a:r>
              <a:rPr lang="en-US" sz="1100" b="1" dirty="0"/>
              <a:t>: 87%</a:t>
            </a:r>
            <a:endParaRPr lang="en-US" sz="1100" dirty="0"/>
          </a:p>
        </p:txBody>
      </p:sp>
      <p:sp>
        <p:nvSpPr>
          <p:cNvPr id="68" name="Shape 11"/>
          <p:cNvSpPr/>
          <p:nvPr/>
        </p:nvSpPr>
        <p:spPr>
          <a:xfrm>
            <a:off x="3246120" y="1188720"/>
            <a:ext cx="2743200" cy="3749040"/>
          </a:xfrm>
          <a:prstGeom prst="rect">
            <a:avLst/>
          </a:prstGeom>
          <a:solidFill>
            <a:srgbClr val="FFFFFF">
              <a:alpha val="92000"/>
            </a:srgbClr>
          </a:solidFill>
          <a:ln w="10160">
            <a:solidFill>
              <a:srgbClr val="0D9488"/>
            </a:solidFill>
            <a:prstDash val="solid"/>
          </a:ln>
        </p:spPr>
      </p:sp>
      <p:pic>
        <p:nvPicPr>
          <p:cNvPr id="69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343400" y="1325880"/>
            <a:ext cx="502920" cy="502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0" name="Text 12"/>
          <p:cNvSpPr/>
          <p:nvPr/>
        </p:nvSpPr>
        <p:spPr>
          <a:xfrm>
            <a:off x="32461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/>
              <a:t>Modèle 2</a:t>
            </a:r>
            <a:endParaRPr lang="en-US" sz="1000" dirty="0"/>
          </a:p>
        </p:txBody>
      </p:sp>
      <p:sp>
        <p:nvSpPr>
          <p:cNvPr id="71" name="Text 13"/>
          <p:cNvSpPr/>
          <p:nvPr/>
        </p:nvSpPr>
        <p:spPr>
          <a:xfrm>
            <a:off x="3246120" y="2176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/>
              <a:t>Segmentation clients</a:t>
            </a:r>
            <a:endParaRPr lang="en-US" sz="1500" dirty="0"/>
          </a:p>
        </p:txBody>
      </p:sp>
      <p:sp>
        <p:nvSpPr>
          <p:cNvPr id="74" name="Text 16"/>
          <p:cNvSpPr/>
          <p:nvPr/>
        </p:nvSpPr>
        <p:spPr>
          <a:xfrm>
            <a:off x="3337560" y="2834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/>
              <a:t>Les clients sont regroupés en 4 profils selon leur comportement d'achat pour des actions marketing ciblées.</a:t>
            </a:r>
          </a:p>
        </p:txBody>
      </p:sp>
      <p:sp>
        <p:nvSpPr>
          <p:cNvPr id="75" name="Shape 17"/>
          <p:cNvSpPr/>
          <p:nvPr/>
        </p:nvSpPr>
        <p:spPr>
          <a:xfrm>
            <a:off x="3520440" y="4526280"/>
            <a:ext cx="2194560" cy="320040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6" name="Text 18"/>
          <p:cNvSpPr/>
          <p:nvPr/>
        </p:nvSpPr>
        <p:spPr>
          <a:xfrm>
            <a:off x="3520440" y="4544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4 segments identifiés</a:t>
            </a:r>
            <a:endParaRPr lang="en-US" sz="1100" dirty="0"/>
          </a:p>
        </p:txBody>
      </p:sp>
      <p:sp>
        <p:nvSpPr>
          <p:cNvPr id="77" name="Shape 19"/>
          <p:cNvSpPr/>
          <p:nvPr/>
        </p:nvSpPr>
        <p:spPr>
          <a:xfrm>
            <a:off x="6217920" y="1188720"/>
            <a:ext cx="2743200" cy="3749040"/>
          </a:xfrm>
          <a:prstGeom prst="rect">
            <a:avLst/>
          </a:prstGeom>
          <a:solidFill>
            <a:srgbClr val="FFFFFF">
              <a:alpha val="92000"/>
            </a:srgbClr>
          </a:solidFill>
          <a:ln w="10160">
            <a:solidFill>
              <a:srgbClr val="0D9488"/>
            </a:solidFill>
            <a:prstDash val="solid"/>
          </a:ln>
        </p:spPr>
      </p:sp>
      <p:pic>
        <p:nvPicPr>
          <p:cNvPr id="78" name="Image 2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15200" y="1325880"/>
            <a:ext cx="502920" cy="5029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9" name="Text 20"/>
          <p:cNvSpPr/>
          <p:nvPr/>
        </p:nvSpPr>
        <p:spPr>
          <a:xfrm>
            <a:off x="62179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/>
              <a:t>Modèle 3</a:t>
            </a:r>
            <a:endParaRPr lang="en-US" sz="1000" dirty="0"/>
          </a:p>
        </p:txBody>
      </p:sp>
      <p:sp>
        <p:nvSpPr>
          <p:cNvPr id="80" name="Text 21"/>
          <p:cNvSpPr/>
          <p:nvPr/>
        </p:nvSpPr>
        <p:spPr>
          <a:xfrm>
            <a:off x="6217920" y="2176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/>
              <a:t>Prédiction de la satisfaction</a:t>
            </a:r>
            <a:endParaRPr lang="en-US" sz="1500" dirty="0"/>
          </a:p>
        </p:txBody>
      </p:sp>
      <p:sp>
        <p:nvSpPr>
          <p:cNvPr id="83" name="Text 24"/>
          <p:cNvSpPr/>
          <p:nvPr/>
        </p:nvSpPr>
        <p:spPr>
          <a:xfrm>
            <a:off x="6309360" y="282371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/>
              <a:t>Le modèle détecte les commandes à risque d'insatisfaction AVANT que l'avis soit publié.</a:t>
            </a:r>
          </a:p>
        </p:txBody>
      </p:sp>
      <p:sp>
        <p:nvSpPr>
          <p:cNvPr id="84" name="Shape 25"/>
          <p:cNvSpPr/>
          <p:nvPr/>
        </p:nvSpPr>
        <p:spPr>
          <a:xfrm>
            <a:off x="6492240" y="4526280"/>
            <a:ext cx="2194560" cy="320040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5" name="Text 26"/>
          <p:cNvSpPr/>
          <p:nvPr/>
        </p:nvSpPr>
        <p:spPr>
          <a:xfrm>
            <a:off x="6492240" y="4544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AUC-ROC : 0.89</a:t>
            </a:r>
            <a:endParaRPr lang="en-US" sz="1100" dirty="0"/>
          </a:p>
        </p:txBody>
      </p:sp>
      <p:sp>
        <p:nvSpPr>
          <p:cNvPr id="86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8383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— MODÈLE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sont vos clients ? — Analyse RFM + K-Means</a:t>
            </a:r>
            <a:endParaRPr lang="en-US" sz="2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601918079"/>
              </p:ext>
            </p:extLst>
          </p:nvPr>
        </p:nvGraphicFramePr>
        <p:xfrm>
          <a:off x="274320" y="118872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11887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663440" y="1188720"/>
            <a:ext cx="4572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252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</a:t>
            </a:r>
            <a:r>
              <a:rPr lang="en-US" sz="1200" b="1" dirty="0" err="1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Acheteurs</a:t>
            </a: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b="1" dirty="0" smtClean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29,8%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00600" y="1508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Dépensent le plus, fort CA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00600" y="1691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Cross-sell &amp; VIP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03911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039112"/>
            <a:ext cx="457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</a:t>
            </a:r>
            <a:r>
              <a:rPr lang="en-US" sz="1200" b="1" dirty="0" err="1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Fidèles</a:t>
            </a: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</a:t>
            </a:r>
            <a:r>
              <a:rPr lang="en-US" sz="1200" b="1" dirty="0" smtClean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Achètent fréquemment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00600" y="2542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Programme fidélité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288950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2889504"/>
            <a:ext cx="457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2953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 </a:t>
            </a:r>
            <a:r>
              <a:rPr lang="en-US" sz="1200" b="1" dirty="0" smtClean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38,2%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00600" y="32095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Récents, faible historique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00600" y="3392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Offres bienvenue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373989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3739896"/>
            <a:ext cx="4572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00600" y="3803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</a:t>
            </a:r>
            <a:r>
              <a:rPr lang="en-US" sz="1200" b="1" dirty="0" err="1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Perdus</a:t>
            </a: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b="1" dirty="0" smtClean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28,9%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00600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Inactifs longtemps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00600" y="4242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Campagne réactivation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3" name="SlideNum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dirty="0" smtClean="0">
                <a:solidFill>
                  <a:srgbClr val="94A3B8"/>
                </a:solidFill>
                <a:latin typeface="Calibri" pitchFamily="34" charset="0"/>
              </a:rPr>
              <a:t>10</a:t>
            </a:r>
            <a:endParaRPr lang="fr-FR" sz="1000" b="1" dirty="0">
              <a:solidFill>
                <a:srgbClr val="94A3B8"/>
              </a:solidFill>
              <a:latin typeface="Calibri" pitchFamily="34" charset="0"/>
            </a:endParaRPr>
          </a:p>
        </p:txBody>
      </p:sp>
      <p:sp>
        <p:nvSpPr>
          <p:cNvPr id="24" name="SectionLabel"/>
          <p:cNvSpPr/>
          <p:nvPr/>
        </p:nvSpPr>
        <p:spPr>
          <a:xfrm>
            <a:off x="425760" y="213164"/>
            <a:ext cx="3987610" cy="33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kern="0" spc="200" dirty="0">
                <a:solidFill>
                  <a:srgbClr val="F59E0B"/>
                </a:solidFill>
                <a:latin typeface="Calibri" pitchFamily="34" charset="0"/>
              </a:rPr>
              <a:t>RECOMMANDATIONS — ANALYSE DETAILLEE</a:t>
            </a:r>
          </a:p>
        </p:txBody>
      </p:sp>
      <p:sp>
        <p:nvSpPr>
          <p:cNvPr id="25" name="MainTitle"/>
          <p:cNvSpPr/>
          <p:nvPr/>
        </p:nvSpPr>
        <p:spPr>
          <a:xfrm>
            <a:off x="457200" y="500760"/>
            <a:ext cx="82296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dirty="0">
                <a:latin typeface="Calibri" pitchFamily="34" charset="0"/>
              </a:rPr>
              <a:t>3 recommandations actionnables — justification quantitative</a:t>
            </a:r>
          </a:p>
        </p:txBody>
      </p:sp>
      <p:sp>
        <p:nvSpPr>
          <p:cNvPr id="26" name="Card1Bg"/>
          <p:cNvSpPr/>
          <p:nvPr/>
        </p:nvSpPr>
        <p:spPr>
          <a:xfrm>
            <a:off x="365760" y="1040000"/>
            <a:ext cx="2630000" cy="385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Card1Accent"/>
          <p:cNvSpPr/>
          <p:nvPr/>
        </p:nvSpPr>
        <p:spPr>
          <a:xfrm>
            <a:off x="365760" y="1040000"/>
            <a:ext cx="60000" cy="3850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Num1"/>
          <p:cNvSpPr/>
          <p:nvPr/>
        </p:nvSpPr>
        <p:spPr>
          <a:xfrm>
            <a:off x="500000" y="1080000"/>
            <a:ext cx="4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dirty="0">
                <a:solidFill>
                  <a:srgbClr val="EF4444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29" name="Badge1Bg"/>
          <p:cNvSpPr/>
          <p:nvPr/>
        </p:nvSpPr>
        <p:spPr>
          <a:xfrm>
            <a:off x="500000" y="1500000"/>
            <a:ext cx="2400000" cy="230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Badge1Txt"/>
          <p:cNvSpPr/>
          <p:nvPr/>
        </p:nvSpPr>
        <p:spPr>
          <a:xfrm>
            <a:off x="500000" y="150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dirty="0">
                <a:solidFill>
                  <a:srgbClr val="FFFFFF"/>
                </a:solidFill>
                <a:latin typeface="Calibri" pitchFamily="34" charset="0"/>
              </a:rPr>
              <a:t>PRIORITE HAUTE</a:t>
            </a:r>
          </a:p>
        </p:txBody>
      </p:sp>
      <p:sp>
        <p:nvSpPr>
          <p:cNvPr id="31" name="Title1"/>
          <p:cNvSpPr/>
          <p:nvPr/>
        </p:nvSpPr>
        <p:spPr>
          <a:xfrm>
            <a:off x="900000" y="1080000"/>
            <a:ext cx="2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Reduire les delais de livraison</a:t>
            </a:r>
          </a:p>
        </p:txBody>
      </p:sp>
      <p:sp>
        <p:nvSpPr>
          <p:cNvPr id="32" name="Body1"/>
          <p:cNvSpPr/>
          <p:nvPr/>
        </p:nvSpPr>
        <p:spPr>
          <a:xfrm>
            <a:off x="500000" y="1760000"/>
            <a:ext cx="2400000" cy="29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b="1" dirty="0">
                <a:solidFill>
                  <a:srgbClr val="F59E0B"/>
                </a:solidFill>
                <a:latin typeface="Calibri" pitchFamily="34" charset="0"/>
              </a:rPr>
              <a:t>Constat</a:t>
            </a:r>
          </a:p>
          <a:p>
            <a:pPr marL="0" indent="0">
              <a:buNone/>
            </a:pPr>
            <a:r>
              <a:rPr lang="fr-FR" sz="880" dirty="0">
                <a:latin typeface="Calibri" pitchFamily="34" charset="0"/>
              </a:rPr>
              <a:t>RR, AP, AM : jusqu'a 30 jours de delai moyen. Retards majeurs en AC, RO et AM vs &lt;14 j dans les regions performantes.</a:t>
            </a:r>
          </a:p>
          <a:p>
            <a:pPr marL="0" indent="0">
              <a:buNone/>
            </a:pPr>
            <a:r>
              <a:rPr lang="fr-FR" sz="880" dirty="0">
                <a:solidFill>
                  <a:srgbClr val="FFFFFF"/>
                </a:solidFill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fr-FR" sz="950" b="1" dirty="0">
                <a:solidFill>
                  <a:srgbClr val="F59E0B"/>
                </a:solidFill>
                <a:latin typeface="Calibri" pitchFamily="34" charset="0"/>
              </a:rPr>
              <a:t>Actions</a:t>
            </a:r>
          </a:p>
          <a:p>
            <a:pPr marL="0" indent="0">
              <a:buNone/>
            </a:pPr>
            <a:r>
              <a:rPr lang="fr-FR" sz="880" dirty="0">
                <a:latin typeface="Calibri" pitchFamily="34" charset="0"/>
              </a:rPr>
              <a:t>Optimiser les itineraires ; Partenariats transporteurs locaux ; Centres logistiques regionaux ; Anticiper expeditions zones contraintes.</a:t>
            </a:r>
          </a:p>
          <a:p>
            <a:pPr marL="0" indent="0">
              <a:buNone/>
            </a:pPr>
            <a:r>
              <a:rPr lang="fr-FR" sz="880" dirty="0">
                <a:solidFill>
                  <a:srgbClr val="FFFFFF"/>
                </a:solidFill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fr-FR" sz="950" b="1" dirty="0">
                <a:solidFill>
                  <a:srgbClr val="F59E0B"/>
                </a:solidFill>
                <a:latin typeface="Calibri" pitchFamily="34" charset="0"/>
              </a:rPr>
              <a:t>Impact attendu</a:t>
            </a:r>
          </a:p>
          <a:p>
            <a:pPr marL="0" indent="0">
              <a:buNone/>
            </a:pPr>
            <a:r>
              <a:rPr lang="fr-FR" sz="880" dirty="0">
                <a:latin typeface="Calibri" pitchFamily="34" charset="0"/>
              </a:rPr>
              <a:t>Reduction delais, baisse retards, amelioration experience client, hausse satisfaction, reduction annulations.</a:t>
            </a:r>
          </a:p>
          <a:p>
            <a:pPr marL="0" indent="0">
              <a:buNone/>
            </a:pPr>
            <a:r>
              <a:rPr lang="fr-FR" sz="880" dirty="0">
                <a:solidFill>
                  <a:srgbClr val="FFFFFF"/>
                </a:solidFill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fr-FR" sz="1050" b="1" dirty="0">
                <a:solidFill>
                  <a:srgbClr val="EF4444"/>
                </a:solidFill>
                <a:latin typeface="Calibri" pitchFamily="34" charset="0"/>
              </a:rPr>
              <a:t>Gain estimé : ~219 000 R$</a:t>
            </a:r>
          </a:p>
        </p:txBody>
      </p:sp>
      <p:sp>
        <p:nvSpPr>
          <p:cNvPr id="33" name="Card2Bg"/>
          <p:cNvSpPr/>
          <p:nvPr/>
        </p:nvSpPr>
        <p:spPr>
          <a:xfrm>
            <a:off x="3257760" y="1040000"/>
            <a:ext cx="2630000" cy="385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4" name="Card2Accent"/>
          <p:cNvSpPr/>
          <p:nvPr/>
        </p:nvSpPr>
        <p:spPr>
          <a:xfrm>
            <a:off x="3257760" y="1040000"/>
            <a:ext cx="60000" cy="3850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Num2"/>
          <p:cNvSpPr/>
          <p:nvPr/>
        </p:nvSpPr>
        <p:spPr>
          <a:xfrm>
            <a:off x="3390000" y="1080000"/>
            <a:ext cx="4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dirty="0">
                <a:solidFill>
                  <a:srgbClr val="F59E0B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36" name="Badge2Bg"/>
          <p:cNvSpPr/>
          <p:nvPr/>
        </p:nvSpPr>
        <p:spPr>
          <a:xfrm>
            <a:off x="3390000" y="1500000"/>
            <a:ext cx="2400000" cy="230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Badge2Txt"/>
          <p:cNvSpPr/>
          <p:nvPr/>
        </p:nvSpPr>
        <p:spPr>
          <a:xfrm>
            <a:off x="3390000" y="150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dirty="0">
                <a:solidFill>
                  <a:srgbClr val="FFFFFF"/>
                </a:solidFill>
                <a:latin typeface="Calibri" pitchFamily="34" charset="0"/>
              </a:rPr>
              <a:t>PRIORITE HAUTE</a:t>
            </a:r>
          </a:p>
        </p:txBody>
      </p:sp>
      <p:sp>
        <p:nvSpPr>
          <p:cNvPr id="38" name="Title2"/>
          <p:cNvSpPr/>
          <p:nvPr/>
        </p:nvSpPr>
        <p:spPr>
          <a:xfrm>
            <a:off x="3780000" y="1080000"/>
            <a:ext cx="2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Renforcer le marketing villes a forte valeur</a:t>
            </a:r>
          </a:p>
        </p:txBody>
      </p:sp>
      <p:sp>
        <p:nvSpPr>
          <p:cNvPr id="39" name="Body2"/>
          <p:cNvSpPr/>
          <p:nvPr/>
        </p:nvSpPr>
        <p:spPr>
          <a:xfrm>
            <a:off x="3390000" y="1760000"/>
            <a:ext cx="2400000" cy="29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b="1" dirty="0">
                <a:solidFill>
                  <a:srgbClr val="F59E0B"/>
                </a:solidFill>
                <a:latin typeface="Calibri" pitchFamily="34" charset="0"/>
              </a:rPr>
              <a:t>Constat</a:t>
            </a:r>
          </a:p>
          <a:p>
            <a:pPr marL="0" indent="0">
              <a:buNone/>
            </a:pPr>
            <a:r>
              <a:rPr lang="fr-FR" sz="880" dirty="0">
                <a:latin typeface="Calibri" pitchFamily="34" charset="0"/>
              </a:rPr>
              <a:t>Sao Paulo 1,86M R$ • Rio 0,95M R$ • Belo Horizonte 0,34M R$ = 3,1M R$ concentres dans 3 villes.</a:t>
            </a:r>
          </a:p>
          <a:p>
            <a:pPr marL="0" indent="0">
              <a:buNone/>
            </a:pPr>
            <a:r>
              <a:rPr lang="fr-FR" sz="88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fr-FR" sz="950" b="1" dirty="0">
                <a:solidFill>
                  <a:srgbClr val="F59E0B"/>
                </a:solidFill>
                <a:latin typeface="Calibri" pitchFamily="34" charset="0"/>
              </a:rPr>
              <a:t>Actions</a:t>
            </a:r>
          </a:p>
          <a:p>
            <a:pPr marL="0" indent="0">
              <a:buNone/>
            </a:pPr>
            <a:r>
              <a:rPr lang="fr-FR" sz="880" dirty="0">
                <a:latin typeface="Calibri" pitchFamily="34" charset="0"/>
              </a:rPr>
              <a:t>Campagnes geolocalisees, promotions personnalisees, programmes fidelisation, recommandations historique achat.</a:t>
            </a:r>
          </a:p>
          <a:p>
            <a:pPr marL="0" indent="0">
              <a:buNone/>
            </a:pPr>
            <a:r>
              <a:rPr lang="fr-FR" sz="880" dirty="0">
                <a:solidFill>
                  <a:srgbClr val="FFFFFF"/>
                </a:solidFill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fr-FR" sz="950" b="1" dirty="0">
                <a:solidFill>
                  <a:srgbClr val="F59E0B"/>
                </a:solidFill>
                <a:latin typeface="Calibri" pitchFamily="34" charset="0"/>
              </a:rPr>
              <a:t>Impact attendu</a:t>
            </a:r>
          </a:p>
          <a:p>
            <a:pPr marL="0" indent="0">
              <a:buNone/>
            </a:pPr>
            <a:r>
              <a:rPr lang="fr-FR" sz="880" dirty="0">
                <a:latin typeface="Calibri" pitchFamily="34" charset="0"/>
              </a:rPr>
              <a:t>+5% de ventes = 3,15M × 5% = hausse panier moyen, frequence achat, fidelisation accrue.</a:t>
            </a:r>
          </a:p>
          <a:p>
            <a:pPr marL="0" indent="0">
              <a:buNone/>
            </a:pPr>
            <a:r>
              <a:rPr lang="fr-FR" sz="880" dirty="0">
                <a:solidFill>
                  <a:srgbClr val="FFFFFF"/>
                </a:solidFill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fr-FR" sz="1050" b="1" dirty="0">
                <a:solidFill>
                  <a:srgbClr val="F59E0B"/>
                </a:solidFill>
                <a:latin typeface="Calibri" pitchFamily="34" charset="0"/>
              </a:rPr>
              <a:t>Gain estimé : ~157 000 R$</a:t>
            </a:r>
          </a:p>
        </p:txBody>
      </p:sp>
      <p:sp>
        <p:nvSpPr>
          <p:cNvPr id="40" name="Card3Bg"/>
          <p:cNvSpPr/>
          <p:nvPr/>
        </p:nvSpPr>
        <p:spPr>
          <a:xfrm>
            <a:off x="6149760" y="1040000"/>
            <a:ext cx="2630000" cy="385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1" name="Card3Accent"/>
          <p:cNvSpPr/>
          <p:nvPr/>
        </p:nvSpPr>
        <p:spPr>
          <a:xfrm>
            <a:off x="6149760" y="1040000"/>
            <a:ext cx="60000" cy="3850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Num3"/>
          <p:cNvSpPr/>
          <p:nvPr/>
        </p:nvSpPr>
        <p:spPr>
          <a:xfrm>
            <a:off x="6280000" y="1080000"/>
            <a:ext cx="4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dirty="0">
                <a:solidFill>
                  <a:srgbClr val="10B981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43" name="Badge3Bg"/>
          <p:cNvSpPr/>
          <p:nvPr/>
        </p:nvSpPr>
        <p:spPr>
          <a:xfrm>
            <a:off x="6280000" y="1500000"/>
            <a:ext cx="2400000" cy="230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Badge3Txt"/>
          <p:cNvSpPr/>
          <p:nvPr/>
        </p:nvSpPr>
        <p:spPr>
          <a:xfrm>
            <a:off x="6280000" y="1500000"/>
            <a:ext cx="24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b="1" dirty="0">
                <a:solidFill>
                  <a:srgbClr val="FFFFFF"/>
                </a:solidFill>
                <a:latin typeface="Calibri" pitchFamily="34" charset="0"/>
              </a:rPr>
              <a:t>PRIORITE MOYENNE</a:t>
            </a:r>
          </a:p>
        </p:txBody>
      </p:sp>
      <p:sp>
        <p:nvSpPr>
          <p:cNvPr id="45" name="Title3"/>
          <p:cNvSpPr/>
          <p:nvPr/>
        </p:nvSpPr>
        <p:spPr>
          <a:xfrm>
            <a:off x="6670000" y="1080000"/>
            <a:ext cx="2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Mettre en avant les categories rentables</a:t>
            </a:r>
          </a:p>
        </p:txBody>
      </p:sp>
      <p:sp>
        <p:nvSpPr>
          <p:cNvPr id="46" name="Body3"/>
          <p:cNvSpPr/>
          <p:nvPr/>
        </p:nvSpPr>
        <p:spPr>
          <a:xfrm>
            <a:off x="6280000" y="1760000"/>
            <a:ext cx="2400000" cy="29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b="1" dirty="0">
                <a:solidFill>
                  <a:srgbClr val="F59E0B"/>
                </a:solidFill>
                <a:latin typeface="Calibri" pitchFamily="34" charset="0"/>
              </a:rPr>
              <a:t>Constat</a:t>
            </a:r>
          </a:p>
          <a:p>
            <a:pPr marL="0" indent="0">
              <a:buNone/>
            </a:pPr>
            <a:r>
              <a:rPr lang="fr-FR" sz="880" dirty="0">
                <a:latin typeface="Calibri" pitchFamily="34" charset="0"/>
              </a:rPr>
              <a:t>beleza saude 1,23M • relogios 1,16M • cama mesa 1,02M R$ = 3,41M R$ soit ~26% du CA total.</a:t>
            </a:r>
          </a:p>
          <a:p>
            <a:pPr marL="0" indent="0">
              <a:buNone/>
            </a:pPr>
            <a:r>
              <a:rPr lang="fr-FR" sz="880" dirty="0">
                <a:solidFill>
                  <a:srgbClr val="FFFFFF"/>
                </a:solidFill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fr-FR" sz="950" b="1" dirty="0">
                <a:solidFill>
                  <a:srgbClr val="F59E0B"/>
                </a:solidFill>
                <a:latin typeface="Calibri" pitchFamily="34" charset="0"/>
              </a:rPr>
              <a:t>Actions</a:t>
            </a:r>
          </a:p>
          <a:p>
            <a:pPr marL="0" indent="0">
              <a:buNone/>
            </a:pPr>
            <a:r>
              <a:rPr lang="fr-FR" sz="880" dirty="0">
                <a:latin typeface="Calibri" pitchFamily="34" charset="0"/>
              </a:rPr>
              <a:t>Mise en avant page accueil, hausse budgets pub, offres promo ciblees, cross-selling.</a:t>
            </a:r>
          </a:p>
          <a:p>
            <a:pPr marL="0" indent="0">
              <a:buNone/>
            </a:pPr>
            <a:r>
              <a:rPr lang="fr-FR" sz="880" dirty="0">
                <a:solidFill>
                  <a:srgbClr val="FFFFFF"/>
                </a:solidFill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fr-FR" sz="950" b="1" dirty="0">
                <a:solidFill>
                  <a:srgbClr val="F59E0B"/>
                </a:solidFill>
                <a:latin typeface="Calibri" pitchFamily="34" charset="0"/>
              </a:rPr>
              <a:t>Impact attendu</a:t>
            </a:r>
          </a:p>
          <a:p>
            <a:pPr marL="0" indent="0">
              <a:buNone/>
            </a:pPr>
            <a:r>
              <a:rPr lang="fr-FR" sz="880" dirty="0">
                <a:latin typeface="Calibri" pitchFamily="34" charset="0"/>
              </a:rPr>
              <a:t>+5% ventes = 3,41M × 5% ≈ meilleure rentabilite marketing, hausse CA global.</a:t>
            </a:r>
          </a:p>
          <a:p>
            <a:pPr marL="0" indent="0">
              <a:buNone/>
            </a:pPr>
            <a:r>
              <a:rPr lang="fr-FR" sz="880" dirty="0">
                <a:solidFill>
                  <a:srgbClr val="FFFFFF"/>
                </a:solidFill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fr-FR" sz="1050" b="1" dirty="0">
                <a:solidFill>
                  <a:srgbClr val="10B981"/>
                </a:solidFill>
                <a:latin typeface="Calibri" pitchFamily="34" charset="0"/>
              </a:rPr>
              <a:t>Gain estimé : ~170 000 R$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avant de déployer — Protocole expérimental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 :  Une réduction de 30% des frais de livraison augmente-t-elle significativement le nombre de commandes et le panier moyen 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39776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Contrôle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livraison standards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clients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aléatoire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965960"/>
            <a:ext cx="3977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B — 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–30% sur frais de livraison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clients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aléatoire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2951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KPIs Suivis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3075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commandes, CA, panier moyen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&amp; délai de livraison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satisfaction client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33756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Paramètres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730752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2–4 semaines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statistique : t-test (p &lt; 0,05)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si Groupe B sign. meilleur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891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avant de déployer — Protocole expérimental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 :  Une réduction de 30% des frais de livraison augmente-t-elle significativement le nombre de commandes et le panier moyen 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39776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 — Contrôle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livraison standards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clients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aléatoire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965960"/>
            <a:ext cx="3977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B — 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–30% sur frais de livraison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clients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aléatoire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KPIs Suivis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3075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commandes, CA, panier moyen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&amp; délai de livraison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satisfaction client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33756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Paramètres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730752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2–4 semaines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statistique : t-test (p &lt; 0,05)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si Groupe B sign. meilleur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4" name="Text 14"/>
          <p:cNvSpPr/>
          <p:nvPr/>
        </p:nvSpPr>
        <p:spPr>
          <a:xfrm>
            <a:off x="4114800" y="22951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8658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SlideNum"/>
          <p:cNvSpPr/>
          <p:nvPr/>
        </p:nvSpPr>
        <p:spPr>
          <a:xfrm>
            <a:off x="8046720" y="137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smtClean="0">
                <a:solidFill>
                  <a:srgbClr val="94A3B8"/>
                </a:solidFill>
                <a:latin typeface="Calibri" pitchFamily="34" charset="0"/>
              </a:rPr>
              <a:t>13</a:t>
            </a:r>
            <a:endParaRPr lang="en-US" sz="1000" b="1" dirty="0">
              <a:solidFill>
                <a:srgbClr val="94A3B8"/>
              </a:solidFill>
              <a:latin typeface="Calibri" pitchFamily="34" charset="0"/>
            </a:endParaRPr>
          </a:p>
        </p:txBody>
      </p:sp>
      <p:sp>
        <p:nvSpPr>
          <p:cNvPr id="32" name="Text Section"/>
          <p:cNvSpPr/>
          <p:nvPr/>
        </p:nvSpPr>
        <p:spPr>
          <a:xfrm>
            <a:off x="457200" y="137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kern="0" spc="200" dirty="0">
                <a:solidFill>
                  <a:srgbClr val="F59E0B"/>
                </a:solidFill>
                <a:latin typeface="Calibri" pitchFamily="34" charset="0"/>
              </a:rPr>
              <a:t>IMPACT &amp; ROI</a:t>
            </a:r>
          </a:p>
        </p:txBody>
      </p:sp>
      <p:sp>
        <p:nvSpPr>
          <p:cNvPr id="33" name="Text Title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dirty="0">
                <a:latin typeface="Calibri" pitchFamily="34" charset="0"/>
              </a:rPr>
              <a:t>Impact Financier &amp; Opérationnel</a:t>
            </a:r>
          </a:p>
        </p:txBody>
      </p:sp>
      <p:sp>
        <p:nvSpPr>
          <p:cNvPr id="34" name="Shape FinHeader"/>
          <p:cNvSpPr/>
          <p:nvPr/>
        </p:nvSpPr>
        <p:spPr>
          <a:xfrm>
            <a:off x="365760" y="1097280"/>
            <a:ext cx="4023360" cy="73152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</p:sp>
      <p:sp>
        <p:nvSpPr>
          <p:cNvPr id="35" name="Text FinHeader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91440" tIns="45720" rIns="0" bIns="0" rtlCol="0" anchor="ctr"/>
          <a:lstStyle/>
          <a:p>
            <a:pPr marL="0" indent="0">
              <a:buNone/>
            </a:pPr>
            <a:r>
              <a:rPr lang="fr-FR" sz="1300" b="1" dirty="0">
                <a:latin typeface="Calibri" pitchFamily="34" charset="0"/>
              </a:rPr>
              <a:t>💰 IMPACT FINANCIER</a:t>
            </a:r>
          </a:p>
        </p:txBody>
      </p:sp>
      <p:sp>
        <p:nvSpPr>
          <p:cNvPr id="36" name="Shape Fin1"/>
          <p:cNvSpPr/>
          <p:nvPr/>
        </p:nvSpPr>
        <p:spPr>
          <a:xfrm>
            <a:off x="365760" y="1554480"/>
            <a:ext cx="1828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Fin1"/>
          <p:cNvSpPr/>
          <p:nvPr/>
        </p:nvSpPr>
        <p:spPr>
          <a:xfrm>
            <a:off x="457200" y="1600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dirty="0">
                <a:solidFill>
                  <a:srgbClr val="86EFAC"/>
                </a:solidFill>
                <a:latin typeface="Calibri" pitchFamily="34" charset="0"/>
              </a:rPr>
              <a:t>↗</a:t>
            </a:r>
          </a:p>
          <a:p>
            <a:pPr marL="0" indent="0" algn="ct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</a:rPr>
              <a:t>Chiffre d’affaires</a:t>
            </a:r>
          </a:p>
          <a:p>
            <a:pPr marL="0" indent="0" algn="ctr">
              <a:buNone/>
            </a:pPr>
            <a:r>
              <a:rPr lang="fr-FR" sz="900" dirty="0">
                <a:solidFill>
                  <a:srgbClr val="86EFAC"/>
                </a:solidFill>
                <a:latin typeface="Calibri" pitchFamily="34" charset="0"/>
              </a:rPr>
              <a:t>Augmentation</a:t>
            </a:r>
          </a:p>
        </p:txBody>
      </p:sp>
      <p:sp>
        <p:nvSpPr>
          <p:cNvPr id="38" name="Shape Fin2"/>
          <p:cNvSpPr/>
          <p:nvPr/>
        </p:nvSpPr>
        <p:spPr>
          <a:xfrm>
            <a:off x="2285040" y="1554480"/>
            <a:ext cx="1828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Fin2"/>
          <p:cNvSpPr/>
          <p:nvPr/>
        </p:nvSpPr>
        <p:spPr>
          <a:xfrm>
            <a:off x="2376480" y="1600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dirty="0">
                <a:solidFill>
                  <a:srgbClr val="86EFAC"/>
                </a:solidFill>
                <a:latin typeface="Calibri" pitchFamily="34" charset="0"/>
              </a:rPr>
              <a:t>↗</a:t>
            </a:r>
          </a:p>
          <a:p>
            <a:pPr marL="0" indent="0" algn="ct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</a:rPr>
              <a:t>Taux de conversion</a:t>
            </a:r>
          </a:p>
          <a:p>
            <a:pPr marL="0" indent="0" algn="ctr">
              <a:buNone/>
            </a:pPr>
            <a:r>
              <a:rPr lang="fr-FR" sz="900" dirty="0">
                <a:solidFill>
                  <a:srgbClr val="86EFAC"/>
                </a:solidFill>
                <a:latin typeface="Calibri" pitchFamily="34" charset="0"/>
              </a:rPr>
              <a:t>Augmentation</a:t>
            </a:r>
          </a:p>
        </p:txBody>
      </p:sp>
      <p:sp>
        <p:nvSpPr>
          <p:cNvPr id="40" name="Shape Fin3"/>
          <p:cNvSpPr/>
          <p:nvPr/>
        </p:nvSpPr>
        <p:spPr>
          <a:xfrm>
            <a:off x="365760" y="2468880"/>
            <a:ext cx="1828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Fin3"/>
          <p:cNvSpPr/>
          <p:nvPr/>
        </p:nvSpPr>
        <p:spPr>
          <a:xfrm>
            <a:off x="457200" y="2514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dirty="0">
                <a:solidFill>
                  <a:srgbClr val="86EFAC"/>
                </a:solidFill>
                <a:latin typeface="Calibri" pitchFamily="34" charset="0"/>
              </a:rPr>
              <a:t>↘</a:t>
            </a:r>
          </a:p>
          <a:p>
            <a:pPr marL="0" indent="0" algn="ct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</a:rPr>
              <a:t>Réduction des coûts</a:t>
            </a:r>
          </a:p>
          <a:p>
            <a:pPr marL="0" indent="0" algn="ctr">
              <a:buNone/>
            </a:pPr>
            <a:r>
              <a:rPr lang="fr-FR" sz="900" dirty="0">
                <a:solidFill>
                  <a:srgbClr val="86EFAC"/>
                </a:solidFill>
                <a:latin typeface="Calibri" pitchFamily="34" charset="0"/>
              </a:rPr>
              <a:t>Diminution</a:t>
            </a:r>
          </a:p>
        </p:txBody>
      </p:sp>
      <p:sp>
        <p:nvSpPr>
          <p:cNvPr id="42" name="Shape Fin4"/>
          <p:cNvSpPr/>
          <p:nvPr/>
        </p:nvSpPr>
        <p:spPr>
          <a:xfrm>
            <a:off x="2285040" y="2468880"/>
            <a:ext cx="1828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Fin4"/>
          <p:cNvSpPr/>
          <p:nvPr/>
        </p:nvSpPr>
        <p:spPr>
          <a:xfrm>
            <a:off x="2376480" y="2514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dirty="0">
                <a:solidFill>
                  <a:srgbClr val="86EFAC"/>
                </a:solidFill>
                <a:latin typeface="Calibri" pitchFamily="34" charset="0"/>
              </a:rPr>
              <a:t>↗</a:t>
            </a:r>
          </a:p>
          <a:p>
            <a:pPr marL="0" indent="0" algn="ct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</a:rPr>
              <a:t>Rentabilité</a:t>
            </a:r>
          </a:p>
          <a:p>
            <a:pPr marL="0" indent="0" algn="ctr">
              <a:buNone/>
            </a:pPr>
            <a:r>
              <a:rPr lang="fr-FR" sz="900" dirty="0">
                <a:solidFill>
                  <a:srgbClr val="86EFAC"/>
                </a:solidFill>
                <a:latin typeface="Calibri" pitchFamily="34" charset="0"/>
              </a:rPr>
              <a:t>Amélioration</a:t>
            </a:r>
          </a:p>
        </p:txBody>
      </p:sp>
      <p:sp>
        <p:nvSpPr>
          <p:cNvPr id="44" name="Shape Divider"/>
          <p:cNvSpPr/>
          <p:nvPr/>
        </p:nvSpPr>
        <p:spPr>
          <a:xfrm>
            <a:off x="4480560" y="1097280"/>
            <a:ext cx="36576" cy="2285040"/>
          </a:xfrm>
          <a:prstGeom prst="rect">
            <a:avLst/>
          </a:prstGeom>
          <a:solidFill>
            <a:srgbClr val="2D4A8A"/>
          </a:solidFill>
          <a:ln w="0">
            <a:noFill/>
          </a:ln>
        </p:spPr>
      </p:sp>
      <p:sp>
        <p:nvSpPr>
          <p:cNvPr id="45" name="Shape OpsHeader"/>
          <p:cNvSpPr/>
          <p:nvPr/>
        </p:nvSpPr>
        <p:spPr>
          <a:xfrm>
            <a:off x="4754880" y="1097280"/>
            <a:ext cx="4023360" cy="73152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46" name="Text OpsHeader"/>
          <p:cNvSpPr/>
          <p:nvPr/>
        </p:nvSpPr>
        <p:spPr>
          <a:xfrm>
            <a:off x="475488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91440" tIns="45720" rIns="0" bIns="0" rtlCol="0" anchor="ctr"/>
          <a:lstStyle/>
          <a:p>
            <a:pPr marL="0" indent="0">
              <a:buNone/>
            </a:pPr>
            <a:r>
              <a:rPr lang="fr-FR" sz="1300" b="1" dirty="0">
                <a:latin typeface="Calibri" pitchFamily="34" charset="0"/>
              </a:rPr>
              <a:t>⚙ IMPACT OPÉRATIONNEL</a:t>
            </a:r>
          </a:p>
        </p:txBody>
      </p:sp>
      <p:sp>
        <p:nvSpPr>
          <p:cNvPr id="47" name="Shape Ops1"/>
          <p:cNvSpPr/>
          <p:nvPr/>
        </p:nvSpPr>
        <p:spPr>
          <a:xfrm>
            <a:off x="4754880" y="1554480"/>
            <a:ext cx="1828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Ops1"/>
          <p:cNvSpPr/>
          <p:nvPr/>
        </p:nvSpPr>
        <p:spPr>
          <a:xfrm>
            <a:off x="4846320" y="1600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dirty="0">
                <a:solidFill>
                  <a:srgbClr val="FDE68A"/>
                </a:solidFill>
                <a:latin typeface="Calibri" pitchFamily="34" charset="0"/>
              </a:rPr>
              <a:t>↘</a:t>
            </a:r>
          </a:p>
          <a:p>
            <a:pPr marL="0" indent="0" algn="ct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</a:rPr>
              <a:t>Réduction des délais</a:t>
            </a:r>
          </a:p>
          <a:p>
            <a:pPr marL="0" indent="0" algn="ctr">
              <a:buNone/>
            </a:pPr>
            <a:r>
              <a:rPr lang="fr-FR" sz="900" dirty="0">
                <a:solidFill>
                  <a:srgbClr val="FDE68A"/>
                </a:solidFill>
                <a:latin typeface="Calibri" pitchFamily="34" charset="0"/>
              </a:rPr>
              <a:t>Livraison optimisée</a:t>
            </a:r>
          </a:p>
        </p:txBody>
      </p:sp>
      <p:sp>
        <p:nvSpPr>
          <p:cNvPr id="49" name="Shape Ops2"/>
          <p:cNvSpPr/>
          <p:nvPr/>
        </p:nvSpPr>
        <p:spPr>
          <a:xfrm>
            <a:off x="6674160" y="1554480"/>
            <a:ext cx="1828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Ops2"/>
          <p:cNvSpPr/>
          <p:nvPr/>
        </p:nvSpPr>
        <p:spPr>
          <a:xfrm>
            <a:off x="6765600" y="1600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dirty="0">
                <a:solidFill>
                  <a:srgbClr val="FDE68A"/>
                </a:solidFill>
                <a:latin typeface="Calibri" pitchFamily="34" charset="0"/>
              </a:rPr>
              <a:t>↗</a:t>
            </a:r>
          </a:p>
          <a:p>
            <a:pPr marL="0" indent="0" algn="ct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</a:rPr>
              <a:t>Logistique</a:t>
            </a:r>
          </a:p>
          <a:p>
            <a:pPr marL="0" indent="0" algn="ctr">
              <a:buNone/>
            </a:pPr>
            <a:r>
              <a:rPr lang="fr-FR" sz="900" dirty="0">
                <a:solidFill>
                  <a:srgbClr val="FDE68A"/>
                </a:solidFill>
                <a:latin typeface="Calibri" pitchFamily="34" charset="0"/>
              </a:rPr>
              <a:t>Meilleure organisation</a:t>
            </a:r>
          </a:p>
        </p:txBody>
      </p:sp>
      <p:sp>
        <p:nvSpPr>
          <p:cNvPr id="51" name="Shape Ops3"/>
          <p:cNvSpPr/>
          <p:nvPr/>
        </p:nvSpPr>
        <p:spPr>
          <a:xfrm>
            <a:off x="4754880" y="2468880"/>
            <a:ext cx="1828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Ops3"/>
          <p:cNvSpPr/>
          <p:nvPr/>
        </p:nvSpPr>
        <p:spPr>
          <a:xfrm>
            <a:off x="4846320" y="2514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dirty="0">
                <a:solidFill>
                  <a:srgbClr val="FDE68A"/>
                </a:solidFill>
                <a:latin typeface="Calibri" pitchFamily="34" charset="0"/>
              </a:rPr>
              <a:t>⭐</a:t>
            </a:r>
          </a:p>
          <a:p>
            <a:pPr marL="0" indent="0" algn="ct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</a:rPr>
              <a:t>Qualité de service</a:t>
            </a:r>
          </a:p>
          <a:p>
            <a:pPr marL="0" indent="0" algn="ctr">
              <a:buNone/>
            </a:pPr>
            <a:r>
              <a:rPr lang="fr-FR" sz="900" dirty="0">
                <a:solidFill>
                  <a:srgbClr val="FDE68A"/>
                </a:solidFill>
                <a:latin typeface="Calibri" pitchFamily="34" charset="0"/>
              </a:rPr>
              <a:t>Amélioration</a:t>
            </a:r>
          </a:p>
        </p:txBody>
      </p:sp>
      <p:sp>
        <p:nvSpPr>
          <p:cNvPr id="53" name="Shape Ops4"/>
          <p:cNvSpPr/>
          <p:nvPr/>
        </p:nvSpPr>
        <p:spPr>
          <a:xfrm>
            <a:off x="6674160" y="2468880"/>
            <a:ext cx="1828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Ops4"/>
          <p:cNvSpPr/>
          <p:nvPr/>
        </p:nvSpPr>
        <p:spPr>
          <a:xfrm>
            <a:off x="6765600" y="2514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400" b="1" dirty="0">
                <a:solidFill>
                  <a:srgbClr val="FDE68A"/>
                </a:solidFill>
                <a:latin typeface="Calibri" pitchFamily="34" charset="0"/>
              </a:rPr>
              <a:t>💡</a:t>
            </a:r>
          </a:p>
          <a:p>
            <a:pPr marL="0" indent="0" algn="ctr">
              <a:buNone/>
            </a:pPr>
            <a:r>
              <a:rPr lang="fr-FR" sz="1050" b="1" dirty="0">
                <a:solidFill>
                  <a:srgbClr val="FFFFFF"/>
                </a:solidFill>
                <a:latin typeface="Calibri" pitchFamily="34" charset="0"/>
              </a:rPr>
              <a:t>Décision data-driven</a:t>
            </a:r>
          </a:p>
          <a:p>
            <a:pPr marL="0" indent="0" algn="ctr">
              <a:buNone/>
            </a:pPr>
            <a:r>
              <a:rPr lang="fr-FR" sz="900" dirty="0">
                <a:solidFill>
                  <a:srgbClr val="FDE68A"/>
                </a:solidFill>
                <a:latin typeface="Calibri" pitchFamily="34" charset="0"/>
              </a:rPr>
              <a:t>Optimisation continue</a:t>
            </a:r>
          </a:p>
        </p:txBody>
      </p:sp>
      <p:sp>
        <p:nvSpPr>
          <p:cNvPr id="55" name="Shape ConclusionBg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Conclusion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i="1" dirty="0">
                <a:solidFill>
                  <a:srgbClr val="FDE68A"/>
                </a:solidFill>
                <a:latin typeface="Calibri" pitchFamily="34" charset="0"/>
              </a:rPr>
              <a:t>Chaque décision data-driven optimise la performance globale d’Olist — financièrement et opérationnellement.</a:t>
            </a:r>
          </a:p>
        </p:txBody>
      </p:sp>
      <p:sp>
        <p:nvSpPr>
          <p:cNvPr id="57" name="Shape BottomBar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8232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76586" y="1896531"/>
            <a:ext cx="6190827" cy="1146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4" name="Shape 5"/>
          <p:cNvSpPr/>
          <p:nvPr/>
        </p:nvSpPr>
        <p:spPr>
          <a:xfrm flipV="1">
            <a:off x="1608667" y="2786887"/>
            <a:ext cx="6155266" cy="4571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945</Words>
  <Application>Microsoft Office PowerPoint</Application>
  <PresentationFormat>Affichage à l'écran (16:9)</PresentationFormat>
  <Paragraphs>268</Paragraphs>
  <Slides>15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— Data Story</dc:title>
  <dc:subject>PptxGenJS Presentation</dc:subject>
  <dc:creator>REZGUANI Hiba &amp; BAHBAH Ikram</dc:creator>
  <cp:lastModifiedBy>Compte Microsoft</cp:lastModifiedBy>
  <cp:revision>14</cp:revision>
  <dcterms:created xsi:type="dcterms:W3CDTF">2026-06-06T22:19:56Z</dcterms:created>
  <dcterms:modified xsi:type="dcterms:W3CDTF">2026-06-07T01:18:19Z</dcterms:modified>
</cp:coreProperties>
</file>